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Microsoft 365 Copilot Declarative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Declarative agent grounded in approved SharePoint sources inside the M365 Copilot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Rapid configuration; native M365 user experience; platform-managed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Limited control of ranking, approval logic and custom repository workflows; validate licensing and model route.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Fast discovery pilot and secondary user channel.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2–5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$15K–$50K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Microsoft Copilot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Low-code agent with SharePoint grounding, Topics, connectors and Power Platform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Strong Teams integration; business-managed dialog flows; low-code orchestration.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Governance logic may span Studio, Dataverse and Power Automate; Claude requires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Workflow-led assistant in a Power Platform estate.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4–10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$35K–$120K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Live Microsoft Graph Search +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Search SharePoint at request time using delegated Graph access; send permitted evidence to Claude.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Zero-copy retrieval; current source content; user-context permissions.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Graph latency; semantic relevance and current-approved filtering require additional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Low-infrastructure technical spike or reference baseline.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4–8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$40K–$110K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Graph + Azure AI Search +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Graph sync and ACL propagation to a hybrid search index; governed retrieval before Claude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Keyword/vector/semantic search; structured filters; controllable ranking and citations.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Engineering for ingestion, permission changes, deletion, version authority and index freshness.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Leading governed production architecture candidate.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10–20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$130K–$350K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Graph + Alternative Enterprise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Graph ingestion and security synchronization into an existing or new search/vector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Vendor flexibility; reuse existing search investments; model independence.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Custom ACL adapter, relevance tuning, vendor integration and operations burden.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Alternative when enterprise standards mandate another engine.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10–22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$120K–$340K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Graph + Next.js + Claude (Zero-Copy)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Next.js server routes query Graph and compose Claude prompts from live authorized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Simple UI/API stack; no vector store; low data duplication.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Metadata filters, approval/version selection and deep semantic ranking remain difficult.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Developer-led prototype; not sufficient alone for full governance.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4–8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$40K–$110K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Azure Search + Cosmos DB + Next.js +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Blob document storage, Cosmos governance ledger, Azure AI Search retrieval, Next.js UI/API.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Separation of content authority and index; strict metadata filters; managed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Multiple data services; sync jobs and access-policy enforcement must be engineered and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Enterprise production design with strong Azure alignment.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12–24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$150K–$400K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PostgreSQL pgvector + Prisma + Next.js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Single PostgreSQL platform for governance metadata, versions and vectors; Next.js orchestration.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Developer velocity; relational lifecycle model; fewer managed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Custom hybrid ranking, RLS, scaling, indexing and operational assurance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Lean team or cost-conscious governed MVP.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8–16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$75K–$220K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AWS Bedrock Knowledge Bases +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S3 ingestion to Bedrock Knowledge Bases; Next.js frontend and Claude inference through Bedrock.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Managed ingestion and embedding; AWS-native model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Lifecycle authority and SharePoint ACL synchronization require custom controls; AWS boundary.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Organizations standardized on AWS.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10–20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$110K–$300K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8BDC7"/>
                </a:solidFill>
                <a:latin typeface="Aptos"/>
              </a:defRPr>
            </a:pPr>
            <a:r>
              <a:t>ARCHITECTURE OPTION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064240" cy="7772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51A2B"/>
                </a:solidFill>
                <a:latin typeface="Aptos"/>
              </a:defRPr>
            </a:pPr>
            <a:r>
              <a:t>Commercial AI Search (Glean / Coveo)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83096"/>
            <a:ext cx="11201400" cy="10972"/>
          </a:xfrm>
          <a:prstGeom prst="rect">
            <a:avLst/>
          </a:prstGeom>
          <a:solidFill>
            <a:srgbClr val="5F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Requirements-aligned POC | Architecture options |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E7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580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8580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65471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65471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Commercial enterprise connectors and search services, optionally exposed in custom Next.js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0088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0088"/>
            <a:ext cx="3337560" cy="64008"/>
          </a:xfrm>
          <a:prstGeom prst="rect">
            <a:avLst/>
          </a:prstGeom>
          <a:solidFill>
            <a:srgbClr val="53B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302666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302666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Fast connector rollout; managed search and security trimming; smaller custom retrieval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2990088"/>
            <a:ext cx="33558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990088"/>
            <a:ext cx="3355848" cy="64008"/>
          </a:xfrm>
          <a:prstGeom prst="rect">
            <a:avLst/>
          </a:prstGeom>
          <a:solidFill>
            <a:srgbClr val="F4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72968"/>
            <a:ext cx="3044952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Trade-offs /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57600"/>
            <a:ext cx="3044952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Recurring license costs; limited custom approval workflow control; vendor dependence.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737360"/>
            <a:ext cx="4114800" cy="1124712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71231" y="1737360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920240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Best-fit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04872"/>
            <a:ext cx="3803904" cy="347472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Buy-over-build strategy for broad enterprise discovery.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2990088"/>
            <a:ext cx="4114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5F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1231" y="2990088"/>
            <a:ext cx="4114800" cy="64008"/>
          </a:xfrm>
          <a:prstGeom prst="rect">
            <a:avLst/>
          </a:prstGeom>
          <a:solidFill>
            <a:srgbClr val="28B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172968"/>
            <a:ext cx="3803904" cy="384048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51A2B"/>
                </a:solidFill>
                <a:latin typeface="Aptos"/>
              </a:defRPr>
            </a:pPr>
            <a:r>
              <a:t>Planning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57600"/>
            <a:ext cx="3803904" cy="1463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delivery: 6–14 weeks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Indicative build cost: $60K–$200K + licenses</a:t>
            </a: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051A2B"/>
                </a:solidFill>
                <a:latin typeface="Aptos"/>
              </a:defRPr>
            </a:pPr>
            <a:r>
              <a:t>Costs exclude ongoing licenses, cloud usage, data preparation and client approvals.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33872"/>
            <a:ext cx="10972800" cy="32004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E79"/>
                </a:solidFill>
                <a:latin typeface="Aptos"/>
              </a:defRPr>
            </a:pPr>
            <a:r>
              <a:t>All estimates are illustrative planning ranges; validate with vendors and staffing assumptions.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Retain ten approaches. Prioritize a lean Azure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New preferred candidate: Azure AI Search + Next.js + Claude, with Graph and SharePoint governance explicitly included.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Options 1–10 remain in the deck for auditability and alternatives.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The first 16 slides preserve the requirements-led POC proposal.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PREFERRED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Graph + SharePoint + Azure AI Search + Next.js + Claude.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No Cosmos DB in the initial POC if SharePoint can remain the governance system of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EXPANSION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Add Cosmos DB only when requirements justify a separate transactional governance store.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Decision based on tested workflow and audit gaps.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ARCHITECTURE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Three closely related Microsoft-centered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Azure AI Search and Claude are common. The key decision is where authoritative governance data lives.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A · GRAPH + SEARCH +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Reference pattern.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Graph syncs SharePoint; search retrieves evidence; Claude synthesizes.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UI and governance implementation still need specification.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B · SEARCH + NEXT.JS +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Preferred lean application design.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Next.js provides UX and APIs; Graph connects SharePoint; SharePoint holds authoritative approvals and versions.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C · SEARCH + COSMOS + NEXT.JS +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Extended enterprise design.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Cosmos stores custom metadata, relationships and lifecycle transactions; higher build and operational burden.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PREFERRED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End-to-end design and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Authorization and latest-approved filtering must occur before content is sent to Claude.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2592324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2592324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2263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1  IDENTITY &amp;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22631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Entra ID SSO → Next.js UI / server APIs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Role-specific chat, browse, contribute,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5284" y="1874519"/>
            <a:ext cx="2592324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5284" y="1874519"/>
            <a:ext cx="2592324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9876" y="2084831"/>
            <a:ext cx="2263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2  GOVERNED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2788920"/>
            <a:ext cx="22631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SharePoint documents, lists, metadata, versions and approvals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Microsoft Graph delta sync + ACL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74519"/>
            <a:ext cx="2592324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8776" y="1874519"/>
            <a:ext cx="2592324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084831"/>
            <a:ext cx="2263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3 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788920"/>
            <a:ext cx="22631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Background workers → chunking / embeddings → Azure AI Search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Hard ACL, audience, status and current-version filters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2268" y="1874519"/>
            <a:ext cx="2592324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2268" y="1874519"/>
            <a:ext cx="2592324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6860" y="2084831"/>
            <a:ext cx="2263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4  GENERATION &amp;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860" y="2788920"/>
            <a:ext cx="22631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Minimum authorized evidence → Claude API → citation validation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Logs, monitoring, safe abstention and source links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Removing Cosmos DB does not remove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Azure AI Search is a retrieval index—not the system of record for approvals, ownership or immutable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SYSTEM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SharePoint files and governed lists hold source content, lifecycle state, current version, owner, review date and audience.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Confirm whether native audit and retention satisfy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INDEX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Azure AI Search holds chunks, embeddings, searchable tags, approved/current flags and ACL identifiers.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Rebuildable; synchronize deletion and permission revocation.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Next.js handles contribution, role-aware experiences, approval requests, citations and reports.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Long-running ingestion belongs in background workers, not web requests.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GOVERNANCE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Where each POC requirement will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Six roles and the five-state lifecycle remain unchanged from the original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SHAREPOINT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Documents and registered links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Owner, review date, taxonomy and status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Version history and approved artifact family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Approval and retention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NEXT.JS +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Role-aware UI and validation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Contribution / review flows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Sync jobs, duplicate checks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Audit events and health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AZURE SEARCH +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Hybrid retrieval and tag filters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Permission-aware evidence selection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Latest-approved prioritization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Cited responses and abstention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IMPLEMENTATION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Six-week POC: scope and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Illustrative labor-only budget. Assumes 100–300 artifacts, one SharePoint site, prompt tenant access and no regulated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WEEKS 1–2  |  $13K–$25K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Design, taxonomy, role mapping, security decisions.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Next.js foundation, Entra ID and Graph 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WEEKS 3–4  |  $16K–$30K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Metadata and ingestion, lifecycle logic, index construction, hybrid search and filters.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Test deletions and ACL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WEEKS 5–6  |  $15K–$27K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Claude grounding, citations, reporting, test personas, ten acceptance tests and VP demo.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TOTAL: $44K–$82K labor.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COSTS AND TCO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Budget beyond the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No vendor quote is implied; actual costs depend on Azure region, search tier, token usage, users, storage and enterprise agreements.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ONE-TIME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Architecture / UX design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Application and ingestion development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Security and compliance review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Data cleanup and taxonomy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Testing and rollout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RECURRING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Azure AI Search capacity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Next.js hosting and background compute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Claude inference / embedding model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Logging, monitoring, backups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Support, licensing and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THREE-YEAR TCO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TCO = build + migration + 36 months run + support + contingency.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Compare low / base / high usage scenarios.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Separate vendor charges from labor.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SECURITY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Controls that cannot be deferred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The platform must never rely on a Claude prompt to enforce authorization or lifecycle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IDENTITY &amp;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Entra ID / least privilege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SharePoint ACL sync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User/group security trimming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Revocation and deletion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DATA &amp;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Approved Claude route and region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Data retention and classification review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Prompt-injection resistance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Sensitive-data checks /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Audit trail and access logs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Index drift and sync monitoring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Incident response / rollback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Safe abstention on weak evidence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TRADE-OFF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Lean design versus dedicated Cosmos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Cosmos DB is a conditional extension, not a prerequisite for production-grade retrieval.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LEAN: SHAREPOINT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Advantages: fewer services, faster POC, native document history, simpler integration.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Risks: complex cross-artifact relationships, transaction workflows and reporting may become cumbersome.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EXTENDED: COSMOS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Advantages: custom data model, explicit transaction workflows, complex relationships and reporting.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Risks: dual-system consistency, added operations, migration and security boundaries.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DECISION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Add Cosmos if SharePoint cannot meet tested requirements for approval transactions, relationship graph, reporting, performance or audit retention.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Document evidence before expansion.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OPTION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How the VP should compare all ten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Use a weighted decision matrix against the same corpus and acceptance tests—not an unverified vendor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WEIGHTED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Governance and latest-approved: 25%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Security / permission accuracy: 25%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Retrieval and citation quality: 20%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Cost / operations: 15%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Time to deliver: 10%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Portability: 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CANDIDATE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Option 4: Graph + Azure Search + Claude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Option 7: Search + Cosmos + Next.js + Claude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New lean variant: Search + Next.js + Claude, with Graph / SharePoint.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EVIDENCE TO COLLECT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10 acceptance criteria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Permission and revocation tests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Citation precision and abstention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Latency and ingestion lag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Monthly cost per usage scenario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POC success is not production 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The original 100,000+ artifact target remains a future scale requirement.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POC EXIT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Demonstrate AC-001–010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Correct latest-approved selection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Zero unauthorized evidence exposure in test suite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Source-openable citations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Business-owner signoff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PRODUCTION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HA / DR, SLOs and incident runbooks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Scale and load testing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Operational cost alerts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Index rebuild and reconciliation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Privacy / legal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Additional formats and sites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Multiple domains and segments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Broader governance workflows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Formal retention and external publishing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Optional Cosmos decision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838B"/>
                </a:solidFill>
                <a:latin typeface="Aptos"/>
              </a:defRPr>
            </a:pPr>
            <a:r>
              <a:t>EXECUTIVE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F45"/>
                </a:solidFill>
                <a:latin typeface="Aptos"/>
              </a:defRPr>
            </a:pPr>
            <a:r>
              <a:t>Approve one lean POC, preserve the expansion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36F"/>
                </a:solidFill>
                <a:latin typeface="Aptos"/>
              </a:defRPr>
            </a:pPr>
            <a:r>
              <a:t>The company is selecting a testable architecture direction—not committing to a final production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Requirements-aligned POC  |  Executive architecture review  |  Confidential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83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2636F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REQUEST 1 ·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Approve Insurance pilot: 100–300 artifacts, six roles, 2+ permission groups, PDF/DOCX/PPTX and one registered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39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REQUEST 2 ·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39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Authorize Next.js + Graph + SharePoint governance + Azure AI Search + Claude as the preferred POC baseline.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Keep Cosmos as an explicit 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19"/>
            <a:ext cx="3523488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1104" y="1874519"/>
            <a:ext cx="3523488" cy="73152"/>
          </a:xfrm>
          <a:prstGeom prst="roundRect">
            <a:avLst/>
          </a:prstGeom>
          <a:solidFill>
            <a:srgbClr val="00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695" y="2084831"/>
            <a:ext cx="3194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F45"/>
                </a:solidFill>
                <a:latin typeface="Aptos"/>
              </a:defRPr>
            </a:pPr>
            <a:r>
              <a:t>REQUEST 3 ·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695" y="2788920"/>
            <a:ext cx="3194304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Approve a six-week acceptance-led evaluation, subject to access and security approvals.</a:t>
            </a:r>
          </a:p>
          <a:p>
            <a:pPr>
              <a:spcAft>
                <a:spcPts val="700"/>
              </a:spcAft>
              <a:defRPr sz="1300" b="0">
                <a:solidFill>
                  <a:srgbClr val="142F45"/>
                </a:solidFill>
                <a:latin typeface="Aptos"/>
              </a:defRPr>
            </a:pPr>
            <a:r>
              <a:t>At exit: GO / REFINE / STOP based on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